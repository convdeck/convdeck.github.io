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1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3657600"/>
            <a:ext cx="10972800" cy="10972800"/>
          </a:xfrm>
          <a:prstGeom prst="ellipse">
            <a:avLst/>
          </a:prstGeom>
          <a:solidFill>
            <a:srgbClr val="4338C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9144000" cy="9144000"/>
          </a:xfrm>
          <a:prstGeom prst="ellipse">
            <a:avLst/>
          </a:prstGeom>
          <a:solidFill>
            <a:srgbClr val="6366F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-2743200"/>
            <a:ext cx="6400800" cy="640080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18320" cy="4389120"/>
          </a:xfrm>
          <a:prstGeom prst="roundRect">
            <a:avLst>
              <a:gd name="adj" fmla="val 6250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C4B5FD"/>
            </a:solidFill>
            <a:prstDash val="solid"/>
          </a:ln>
          <a:effectLst>
            <a:outerShdw blurRad="254000" dist="76200" dir="8100000" algn="bl" rotWithShape="0">
              <a:srgbClr val="312E8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20116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ConvDeck: Conversational Paper-to-Slide Generation via Stage-Specific User Feedback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40480" y="3611880"/>
            <a:ext cx="438912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38404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 Can Ozden, Sachidanand VS, Furkan Horoz, Ozgur Kara, Dilek Hakkani-Tür, Junho Kim, James M. Rehg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Gap: From Single-Pass Slides to Conversational Control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3779700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834564"/>
            <a:ext cx="5394960" cy="2703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Paper-to-slide generation demands adaptable narratives and emphasis for diverse audiences.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and post-hoc edits leave structural issues unresolved early in the pipeline.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critics miss user-specific goals and presentation context during planning.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3779700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3834564"/>
            <a:ext cx="5394960" cy="2703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design enables earlier intervention on outline and content allocation.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control targets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alignment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goals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6418"/>
            <a:ext cx="10972800" cy="1869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ConvDeck: Multi-Agent, Stage-Specific Conversational Refinement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conversational loops operate at outline refinement and slide refinement stages.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reason, ask, and edit using a think, speak, and act protocol.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covers slide quality and user-goal satisfaction without sacrificing coherence.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Stage-aligned feedback enables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edits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interactions improve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fulfillment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diverse categories.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35" y="1042416"/>
            <a:ext cx="8624529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Work: Agentic Pipelines vs. Post-hoc Conversational Editing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3779700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834564"/>
            <a:ext cx="5394960" cy="2703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span non-interactive pipelines, post-hoc editors, and personalization methods.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Template/reference-driven; narrative/discourse-centered; critique–revise loops; personalization; posters/videos.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ConvDeck uniquely routes feedback to the most effective stage for impact.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3779700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3834564"/>
            <a:ext cx="5394960" cy="2703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positioning emphasizes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stage-aligned loops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refinement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extends beyond quality to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user-goal satisfaction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alignment.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editing after rendering often shows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structural leverage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6418"/>
            <a:ext cx="10972800" cy="18695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&amp; Pipeline: Five Stages + Key Components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progress from preprocessing to conversational slide refinement with clear outputs.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paired with PPTXGenJS enables precise and reversible edits.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interaction precedes rendering to shape narrative and coverage effectively.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interaction polishes content, layout, and assets after materialization.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refinement loops support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iteration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edit cost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35" y="1042416"/>
            <a:ext cx="8624529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Mechanisms: Think–Speak–Act and Local Edit Operations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operations include add, edit, split, merge, remove, and reorder with optional retrieval.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operations include insert, delete, modify, layout adjustments, and typography tuning.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Think–Speak–Act enables clarification or immediate local edits.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previews guide fixes for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ayout crowding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edits maintain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stability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refinement rounds.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54" y="1042416"/>
            <a:ext cx="5712291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Baselines, Dataset, and Protocol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include non-conversational and post-hoc conversational baselines on ArcBench.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ArcBench provides 100 paper and slide pairs with cross-judge evaluation to limit bias.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refiner and user rounds proceed with early stopping for efficiency.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backbones and cross-judging reduce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self-preference bias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measures the fraction of runs that render a complete deck.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HTML, PPTAgent, SlideGen, SlideTailor, ArcDeck; conversational: ConvHTML, AutoSlides.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5548"/>
            <a:ext cx="10972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Evaluating User-Goal Satisfaction: Goals, Categories, and Alignment</a:t>
            </a:r>
            <a:endParaRPr lang="en-US" sz="2400" dirty="0"/>
          </a:p>
        </p:txBody>
      </p:sp>
      <p:pic>
        <p:nvPicPr>
          <p:cNvPr id="12" name="Image 0" descr="/projects/illinois/eng/cs/jrehg/users/tozden2/ConvDeck_final/ArcDeck/&lt;gpt-5_gpt-5&gt;_images_and_tables/EMNLP2026_ConvDeck/EMNLP2026_ConvDeck-tab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391" y="1042416"/>
            <a:ext cx="8348419" cy="32575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84048" y="4473702"/>
            <a:ext cx="1111910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528566"/>
            <a:ext cx="1097280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Stage-aligned refinement is hypothesized to better meet presenter-specific requirements.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map to outline categories and slide categories for targeted evaluation.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emphasizes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goals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alignment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1: Does Conversational Refinement Close Unmet Goals?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3505593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60457"/>
            <a:ext cx="5394960" cy="2977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ConvDeck satisfies 79%, versus ConvHTML at 72% and AutoSlides at 70%.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strong on content, narrative, figures and tables, and composition while style remains harder.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remains high across backbones with stable rendering outcomes.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53328" y="3505593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3560457"/>
            <a:ext cx="5394960" cy="2977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gains reflect </a:t>
            </a:r>
            <a:r>
              <a:rPr lang="en-US" sz="14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fixes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outline into final slides.</a:t>
            </a:r>
            <a:endParaRPr lang="en-US" sz="14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style gaps indicate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surface-level challenges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constraints.</a:t>
            </a:r>
            <a:endParaRPr lang="en-US" sz="14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7062"/>
            <a:ext cx="10972800" cy="13213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Stage-wise Gains: Outline vs. Slide Refinement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refinement delivers large improvements in narrative and content planning.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refinement boosts presentation aspects including figures, tables, and style.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stages combine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gains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polish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benefits appear at both outline and slide phases.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loops reduce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misplaced edits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undermine coherence.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+71, Content +49, Fig/Table +36, Style +29.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tabl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209" y="1042416"/>
            <a:ext cx="7614782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Dynamics: Rapid Early Gains and Stability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rounds achieve most gains with diminishing returns in later interaction.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consistency and stability persist across consecutive rounds of refinement.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quality remains strong despite slight later-round decline.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 progress provides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convergence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goals.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rounds can introduce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added benefit.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tabl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709" y="1042416"/>
            <a:ext cx="8199783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Quality: Preference vs. Baselines and Author-Prepared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ConvDeck is preferred over baselines with strong backbones under cross-judging.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approaches author-prepared decks while weaker backbones converge near parity.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strength modulates preference with larger margins on top-tier models.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wins signal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narrative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artifacts may cause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bias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generated decks.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42416"/>
            <a:ext cx="108585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Footprint: Cost and Runtime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3765335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820199"/>
            <a:ext cx="5394960" cy="2717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remains moderate and competitive with comparable baselines.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overhead stays modest relative to added interactive capability.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enables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edits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iterative rounds.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3765335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3820199"/>
            <a:ext cx="5394960" cy="2717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footprint reflects balanced tradeoffs between quality and speed.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reads introduce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mitigated by localized changes.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paper: 281k; cost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$0.82; runtime 940 s; ArcDeck 451 s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0783"/>
            <a:ext cx="10972800" cy="1840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 Stage-Aligned Conversation Improves Slide Generation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Two-loop conversational design improves user-goal satisfaction over post-hoc editing.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cost-effectiveness are maintained across backbones and settings.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Stage-specific refinements provide </a:t>
            </a:r>
            <a:r>
              <a:rPr lang="en-US" sz="16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decks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changes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473702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528566"/>
            <a:ext cx="5394960" cy="2009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Outline-first control propagates structural improvements through rendering.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Slide-level polishing finalizes clarity, layout, and asset choices.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35" y="1042416"/>
            <a:ext cx="8624529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C4B5F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256032"/>
          </a:xfrm>
          <a:prstGeom prst="roundRect">
            <a:avLst>
              <a:gd name="adj" fmla="val 50000"/>
            </a:avLst>
          </a:prstGeom>
          <a:solidFill>
            <a:srgbClr val="4338C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-1188720"/>
            <a:ext cx="2286000" cy="22860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"/>
            <a:ext cx="11640312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45000"/>
            </a:srgbClr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Scope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" y="4138547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193411"/>
            <a:ext cx="5394960" cy="23445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an LLM simulator requires broader human evaluation for robustness.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sensitivity and backbone dependence reduce consistency on weaker models.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state needs engineering hardening before production deployment.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3328" y="4138547"/>
            <a:ext cx="5541264" cy="54864"/>
          </a:xfrm>
          <a:prstGeom prst="roundRect">
            <a:avLst>
              <a:gd name="adj" fmla="val 66667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193411"/>
            <a:ext cx="5394960" cy="23445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may miss rare overflow or crowding edge cases.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Open-model gaps highlight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variance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settings.</a:t>
            </a:r>
            <a:endParaRPr lang="en-US" sz="1600" dirty="0"/>
          </a:p>
        </p:txBody>
      </p:sp>
      <p:pic>
        <p:nvPicPr>
          <p:cNvPr id="16" name="Image 0" descr="/projects/illinois/eng/cs/jrehg/users/tozden2/ConvDeck_final/ArcDeck/&lt;gpt-5_gpt-5&gt;_images_and_tables/EMNLP2026_ConvDeck/EMNLP2026_ConvDeck-pictur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7571"/>
            <a:ext cx="10972800" cy="2587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3657600"/>
            <a:ext cx="10972800" cy="10972800"/>
          </a:xfrm>
          <a:prstGeom prst="ellipse">
            <a:avLst/>
          </a:prstGeom>
          <a:solidFill>
            <a:srgbClr val="4338C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9144000" cy="9144000"/>
          </a:xfrm>
          <a:prstGeom prst="ellipse">
            <a:avLst/>
          </a:prstGeom>
          <a:solidFill>
            <a:srgbClr val="6366F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0" y="1828800"/>
            <a:ext cx="7589520" cy="3200400"/>
          </a:xfrm>
          <a:prstGeom prst="roundRect">
            <a:avLst>
              <a:gd name="adj" fmla="val 8571"/>
            </a:avLst>
          </a:prstGeom>
          <a:solidFill>
            <a:srgbClr val="FFFFFF">
              <a:alpha val="30000"/>
            </a:srgbClr>
          </a:solidFill>
          <a:ln w="190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1002</Words>
  <Application>Microsoft Macintosh PowerPoint</Application>
  <PresentationFormat>Custom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Auto-generated presentation</dc:subject>
  <dc:creator>SlideGen</dc:creator>
  <cp:lastModifiedBy>Ozden, Tarik Can</cp:lastModifiedBy>
  <cp:revision>23</cp:revision>
  <dcterms:created xsi:type="dcterms:W3CDTF">2026-08-31T04:16:29Z</dcterms:created>
  <dcterms:modified xsi:type="dcterms:W3CDTF">2026-08-31T04:22:08Z</dcterms:modified>
</cp:coreProperties>
</file>